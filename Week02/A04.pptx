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8"/>
  </p:notesMasterIdLst>
  <p:handoutMasterIdLst>
    <p:handoutMasterId r:id="rId9"/>
  </p:handoutMasterIdLst>
  <p:sldIdLst>
    <p:sldId id="257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066C79-EAD7-B009-E8F4-8B013C8A64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ABDULLAH SARWAR | MCA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36BAEF-DA7A-CB14-186C-4B6FEBCC9E1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26712-0CC2-46B2-B05E-83F85F6F16AD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36A4B-32EC-ED21-1342-5A676C58EC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COMPUTER SCIENCE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AD95B2-1792-6230-12AB-B0FAD4323A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6F371D-19ED-48E1-A8FA-26BCD5B253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779582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ABDULLAH SARWAR | MCA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D1469C-0888-4EAE-93DC-A5E6A56FB8C2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DEPARTMENT OF COMPUTER SCIENCE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F9153F-3840-4B68-80C3-7055F023EA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65481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F945AC-B814-403F-9A00-458DA3358E08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833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8F58D-258D-4AE5-87D3-CB488F276F0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0564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8EFB1-63A9-4F68-9742-4F4F64359CEB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38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B2CDC-188C-41DE-947B-6C88F26A76AB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4687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E313E-3594-45D5-83FC-4DEB13F8DB07}" type="datetime1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46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12705-A87C-44E2-AF68-B63EE534182E}" type="datetime1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758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A827-E99E-4257-A280-2F815CBD8F70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16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74E74-726C-4956-984C-3C579D5377B2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369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0D230-7D97-4D28-A47C-8A519E3BA00B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514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36783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83913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184205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768341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762277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754145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A5B0F-C8E4-4962-B739-7C719369B3A8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2982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258C5-49AD-4A6F-AE51-F251B749897D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5433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F79D4B-D967-408E-950D-CB20B5091632}" type="datetime1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IN"/>
              <a:t>ABDULLAH SARWAR | MCA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E0F4B92-B9F7-45A6-8602-ED89E204B0B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696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sciencenewstoday.org/ai-in-everyday-life-20-real-world-examples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AE305D-DCCD-CE4D-BE08-57ACCD69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0BF61-7A78-4339-AC45-32093951E942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73739-D4A1-3993-3A7E-AE968392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31AC1-440A-05D6-A236-F7E44859A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1</a:t>
            </a:fld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7C0F16A-0110-10D4-B3C6-E7C1EB51E1B8}"/>
              </a:ext>
            </a:extLst>
          </p:cNvPr>
          <p:cNvSpPr/>
          <p:nvPr/>
        </p:nvSpPr>
        <p:spPr>
          <a:xfrm>
            <a:off x="2186974" y="2394958"/>
            <a:ext cx="622363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400" b="1" kern="0" spc="-31" dirty="0">
                <a:solidFill>
                  <a:srgbClr val="051D3A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Artificial Intelligence in Everyday Life</a:t>
            </a:r>
            <a:endParaRPr lang="en-US" sz="4400" b="1" dirty="0">
              <a:latin typeface="Arial Black" panose="020B0A040201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23CEA88E-2D40-9EE4-62D4-31DA9C5928F7}"/>
              </a:ext>
            </a:extLst>
          </p:cNvPr>
          <p:cNvSpPr/>
          <p:nvPr/>
        </p:nvSpPr>
        <p:spPr>
          <a:xfrm>
            <a:off x="2186974" y="3752260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8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How AI is changing the way we live, work and learn</a:t>
            </a:r>
            <a:endParaRPr lang="en-US" sz="28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661048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36ADFC-8F81-A541-032D-7654A76E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3E58A-BA9F-408F-862B-2F103A80BF93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BB3017-F2BE-007A-26AF-270FBE4E5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4A73-192D-07DA-A0F1-424FDEE64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2</a:t>
            </a:fld>
            <a:endParaRPr lang="en-I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D4FE06BE-046C-3D76-EE86-751FD7C88139}"/>
              </a:ext>
            </a:extLst>
          </p:cNvPr>
          <p:cNvSpPr/>
          <p:nvPr/>
        </p:nvSpPr>
        <p:spPr>
          <a:xfrm>
            <a:off x="4334750" y="478580"/>
            <a:ext cx="5436564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31" dirty="0">
                <a:solidFill>
                  <a:srgbClr val="051D3A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AI Around Us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75D8533E-2142-0277-32D4-DB38621B2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178" y="3694330"/>
            <a:ext cx="553825" cy="553839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68D31654-1B4E-8AA1-C347-2961A4392BE0}"/>
              </a:ext>
            </a:extLst>
          </p:cNvPr>
          <p:cNvSpPr/>
          <p:nvPr/>
        </p:nvSpPr>
        <p:spPr>
          <a:xfrm>
            <a:off x="3310594" y="3694330"/>
            <a:ext cx="1722196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📱</a:t>
            </a:r>
            <a:r>
              <a:rPr lang="en-US" sz="16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 Smartphones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EC692ED2-A18F-D2BE-3FBC-7CD96EDA4A05}"/>
              </a:ext>
            </a:extLst>
          </p:cNvPr>
          <p:cNvSpPr/>
          <p:nvPr/>
        </p:nvSpPr>
        <p:spPr>
          <a:xfrm>
            <a:off x="3310594" y="4394021"/>
            <a:ext cx="1722196" cy="93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Voice assistants, face recognition and predictive text</a:t>
            </a:r>
            <a:endParaRPr lang="en-US" sz="1200" b="1" dirty="0">
              <a:latin typeface="Arial Black" panose="020B0A04020102020204" pitchFamily="34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1679E35F-B031-93DB-E3E0-4EA6A73E9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9414" y="1529041"/>
            <a:ext cx="553825" cy="553839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F324C066-7DB5-4637-D5CC-E3FB59BAD583}"/>
              </a:ext>
            </a:extLst>
          </p:cNvPr>
          <p:cNvSpPr/>
          <p:nvPr/>
        </p:nvSpPr>
        <p:spPr>
          <a:xfrm>
            <a:off x="3174831" y="1529041"/>
            <a:ext cx="1722295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🎬</a:t>
            </a:r>
            <a:r>
              <a:rPr lang="en-US" sz="16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 Entertainment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8DFC753-6F12-AFCE-C8A5-CEBA2A433F16}"/>
              </a:ext>
            </a:extLst>
          </p:cNvPr>
          <p:cNvSpPr/>
          <p:nvPr/>
        </p:nvSpPr>
        <p:spPr>
          <a:xfrm>
            <a:off x="3174831" y="2228732"/>
            <a:ext cx="172229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Personalized movies, music and video recommendations</a:t>
            </a:r>
            <a:endParaRPr lang="en-US" sz="1200" b="1" dirty="0">
              <a:latin typeface="Arial Black" panose="020B0A04020102020204" pitchFamily="34" charset="0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A7D0AACE-46B1-0792-3CDB-66F18E035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4827" y="1513681"/>
            <a:ext cx="553825" cy="553839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CC50EEF5-0E40-B3D2-0FB2-A01B1BBD01F9}"/>
              </a:ext>
            </a:extLst>
          </p:cNvPr>
          <p:cNvSpPr/>
          <p:nvPr/>
        </p:nvSpPr>
        <p:spPr>
          <a:xfrm>
            <a:off x="5950244" y="1513681"/>
            <a:ext cx="1722295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🚗</a:t>
            </a:r>
            <a:r>
              <a:rPr lang="en-US" sz="16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 Transportation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26394FD-6D9B-4623-6B9D-26BAF81560A0}"/>
              </a:ext>
            </a:extLst>
          </p:cNvPr>
          <p:cNvSpPr/>
          <p:nvPr/>
        </p:nvSpPr>
        <p:spPr>
          <a:xfrm>
            <a:off x="5950244" y="2213372"/>
            <a:ext cx="172229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Navigation, traffic prediction and driver-assistance systems</a:t>
            </a:r>
            <a:endParaRPr lang="en-US" sz="1200" b="1" dirty="0">
              <a:latin typeface="Arial Black" panose="020B0A04020102020204" pitchFamily="34" charset="0"/>
            </a:endParaRPr>
          </a:p>
        </p:txBody>
      </p:sp>
      <p:pic>
        <p:nvPicPr>
          <p:cNvPr id="15" name="Image 3" descr="preencoded.png">
            <a:extLst>
              <a:ext uri="{FF2B5EF4-FFF2-40B4-BE49-F238E27FC236}">
                <a16:creationId xmlns:a16="http://schemas.microsoft.com/office/drawing/2014/main" id="{A3A44878-503C-BB1B-B27E-36CC8A0ED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130" y="1513681"/>
            <a:ext cx="553825" cy="553839"/>
          </a:xfrm>
          <a:prstGeom prst="rect">
            <a:avLst/>
          </a:prstGeom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AC284899-1AAD-BD9E-A58E-3A293BE81640}"/>
              </a:ext>
            </a:extLst>
          </p:cNvPr>
          <p:cNvSpPr/>
          <p:nvPr/>
        </p:nvSpPr>
        <p:spPr>
          <a:xfrm>
            <a:off x="8709547" y="1513681"/>
            <a:ext cx="1722295" cy="295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🛒</a:t>
            </a:r>
            <a:r>
              <a:rPr lang="en-US" sz="16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 Shopping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454DCFF2-DC8D-13EC-1022-EE909A1BDC19}"/>
              </a:ext>
            </a:extLst>
          </p:cNvPr>
          <p:cNvSpPr/>
          <p:nvPr/>
        </p:nvSpPr>
        <p:spPr>
          <a:xfrm>
            <a:off x="8709547" y="1924645"/>
            <a:ext cx="1722295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Product recommendations and customer-service chatbots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  <p:pic>
        <p:nvPicPr>
          <p:cNvPr id="18" name="Image 4" descr="preencoded.png">
            <a:extLst>
              <a:ext uri="{FF2B5EF4-FFF2-40B4-BE49-F238E27FC236}">
                <a16:creationId xmlns:a16="http://schemas.microsoft.com/office/drawing/2014/main" id="{A7D0F1E4-D7E3-F179-A46A-93CCCB9AFB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6518" y="3664366"/>
            <a:ext cx="553825" cy="553839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FD65D2CF-8CE5-631E-43A3-3C8E422AD13A}"/>
              </a:ext>
            </a:extLst>
          </p:cNvPr>
          <p:cNvSpPr/>
          <p:nvPr/>
        </p:nvSpPr>
        <p:spPr>
          <a:xfrm>
            <a:off x="6191934" y="3664366"/>
            <a:ext cx="1722196" cy="5838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1" dirty="0">
                <a:solidFill>
                  <a:srgbClr val="000000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🏠</a:t>
            </a:r>
            <a:r>
              <a:rPr lang="en-US" sz="16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 Smart Homes</a:t>
            </a:r>
            <a:endParaRPr lang="en-US" sz="1600" b="1" dirty="0">
              <a:latin typeface="Arial Black" panose="020B0A04020102020204" pitchFamily="34" charset="0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AA5FD503-62E5-C4F9-7917-49B2DED377B0}"/>
              </a:ext>
            </a:extLst>
          </p:cNvPr>
          <p:cNvSpPr/>
          <p:nvPr/>
        </p:nvSpPr>
        <p:spPr>
          <a:xfrm>
            <a:off x="6191934" y="4364056"/>
            <a:ext cx="1722196" cy="1246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00" b="1" kern="0" spc="-31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Smart speakers, cameras and automated appliances</a:t>
            </a:r>
            <a:endParaRPr lang="en-US" sz="1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5808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  <p:bldP spid="19" grpId="0" animBg="1"/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C8C47-2F59-C0AC-AD97-D096241DA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A827-E99E-4257-A280-2F815CBD8F70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C26C95-D404-BAB7-447D-4EC49D96F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554E1-E7F2-345E-071A-1E736B781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3</a:t>
            </a:fld>
            <a:endParaRPr lang="en-I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9C1E5ECA-41D2-40D2-F97B-44647067D417}"/>
              </a:ext>
            </a:extLst>
          </p:cNvPr>
          <p:cNvSpPr/>
          <p:nvPr/>
        </p:nvSpPr>
        <p:spPr>
          <a:xfrm>
            <a:off x="2305911" y="516589"/>
            <a:ext cx="4323857" cy="368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0" spc="-16" dirty="0">
                <a:solidFill>
                  <a:srgbClr val="051D3A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The Growth of Artificial Intelligence</a:t>
            </a:r>
            <a:endParaRPr lang="en-US" sz="3200" b="1" dirty="0">
              <a:latin typeface="Arial Black" panose="020B0A04020102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09C594E-9992-8735-7978-B708E52ECD0B}"/>
              </a:ext>
            </a:extLst>
          </p:cNvPr>
          <p:cNvSpPr/>
          <p:nvPr/>
        </p:nvSpPr>
        <p:spPr>
          <a:xfrm>
            <a:off x="2305911" y="1056184"/>
            <a:ext cx="11405108" cy="119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The illustrative AI Adoption Index climbs steadily from </a:t>
            </a: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20 in 2020</a:t>
            </a: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to </a:t>
            </a: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82 in 2025</a:t>
            </a: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,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reflecting how rapidly AI technologies are being integrated into daily life across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b="1" kern="0" spc="-16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industries and households worldwide.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2CE78B65-3896-D676-D9F3-B0751169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8870" y="2039640"/>
            <a:ext cx="6539880" cy="366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29307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9E29A2-5A48-4B49-622A-0DE1A6A3C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A827-E99E-4257-A280-2F815CBD8F70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6F4EAF-8475-02EA-4D32-6750BF559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70923-063B-9265-EDC0-5E44ADA37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4</a:t>
            </a:fld>
            <a:endParaRPr lang="en-IN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5D75A9F7-785B-DA1F-F700-9ED96A1BB069}"/>
              </a:ext>
            </a:extLst>
          </p:cNvPr>
          <p:cNvSpPr/>
          <p:nvPr/>
        </p:nvSpPr>
        <p:spPr>
          <a:xfrm>
            <a:off x="3335006" y="591543"/>
            <a:ext cx="5151171" cy="403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0" spc="-22" dirty="0">
                <a:solidFill>
                  <a:srgbClr val="051D3A"/>
                </a:solidFill>
                <a:latin typeface="Arial Black" panose="020B0A04020102020204" pitchFamily="34" charset="0"/>
                <a:ea typeface="Funnel Display" pitchFamily="34" charset="-122"/>
                <a:cs typeface="Arial" panose="020B0604020202020204" pitchFamily="34" charset="0"/>
              </a:rPr>
              <a:t>AI: Benefits vs. Challenges</a:t>
            </a:r>
            <a:endParaRPr lang="en-US" sz="3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7597171-295A-5546-11C9-E03A3BF6E2AD}"/>
              </a:ext>
            </a:extLst>
          </p:cNvPr>
          <p:cNvSpPr/>
          <p:nvPr/>
        </p:nvSpPr>
        <p:spPr>
          <a:xfrm>
            <a:off x="2388198" y="2665958"/>
            <a:ext cx="7853081" cy="1941314"/>
          </a:xfrm>
          <a:prstGeom prst="roundRect">
            <a:avLst>
              <a:gd name="adj" fmla="val 296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873C8A29-87C6-097B-CADA-7DFC616067CD}"/>
              </a:ext>
            </a:extLst>
          </p:cNvPr>
          <p:cNvSpPr/>
          <p:nvPr/>
        </p:nvSpPr>
        <p:spPr>
          <a:xfrm>
            <a:off x="3275435" y="2986335"/>
            <a:ext cx="5786987" cy="857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13EF94C0-BD11-00BC-F211-FE4FC7772AEE}"/>
              </a:ext>
            </a:extLst>
          </p:cNvPr>
          <p:cNvSpPr/>
          <p:nvPr/>
        </p:nvSpPr>
        <p:spPr>
          <a:xfrm>
            <a:off x="3275435" y="3309887"/>
            <a:ext cx="5786987" cy="857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43CA08A2-F956-63C6-9FF0-078A8A1348B6}"/>
              </a:ext>
            </a:extLst>
          </p:cNvPr>
          <p:cNvSpPr/>
          <p:nvPr/>
        </p:nvSpPr>
        <p:spPr>
          <a:xfrm>
            <a:off x="3275435" y="3633440"/>
            <a:ext cx="5786987" cy="857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0F8FDE1B-60EF-0DE0-A8B1-01505D96BA83}"/>
              </a:ext>
            </a:extLst>
          </p:cNvPr>
          <p:cNvSpPr/>
          <p:nvPr/>
        </p:nvSpPr>
        <p:spPr>
          <a:xfrm>
            <a:off x="3275435" y="3956992"/>
            <a:ext cx="5786987" cy="857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A202D172-EE18-D25C-DD7B-D6874C231F1B}"/>
              </a:ext>
            </a:extLst>
          </p:cNvPr>
          <p:cNvSpPr/>
          <p:nvPr/>
        </p:nvSpPr>
        <p:spPr>
          <a:xfrm>
            <a:off x="3275435" y="4280544"/>
            <a:ext cx="5786987" cy="857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3B488E7-5D70-714E-E753-CA0491D7A4CE}"/>
              </a:ext>
            </a:extLst>
          </p:cNvPr>
          <p:cNvSpPr/>
          <p:nvPr/>
        </p:nvSpPr>
        <p:spPr>
          <a:xfrm>
            <a:off x="2388198" y="2672308"/>
            <a:ext cx="4253248" cy="314027"/>
          </a:xfrm>
          <a:custGeom>
            <a:avLst/>
            <a:gdLst/>
            <a:ahLst/>
            <a:cxnLst/>
            <a:rect l="l" t="t" r="r" b="b"/>
            <a:pathLst>
              <a:path w="2887094" h="314027">
                <a:moveTo>
                  <a:pt x="48000" y="0"/>
                </a:moveTo>
                <a:lnTo>
                  <a:pt x="2887094" y="0"/>
                </a:lnTo>
                <a:lnTo>
                  <a:pt x="2887094" y="314027"/>
                </a:lnTo>
                <a:lnTo>
                  <a:pt x="0" y="314027"/>
                </a:lnTo>
                <a:lnTo>
                  <a:pt x="0" y="48001"/>
                </a:lnTo>
                <a:arcTo wR="48000" hR="48001" stAng="10800000" swAng="5400000"/>
                <a:close/>
              </a:path>
            </a:pathLst>
          </a:custGeom>
          <a:solidFill>
            <a:srgbClr val="3371A5"/>
          </a:solidFill>
          <a:ln/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49B817F-0A4B-7B37-0555-56648887C1A5}"/>
              </a:ext>
            </a:extLst>
          </p:cNvPr>
          <p:cNvSpPr/>
          <p:nvPr/>
        </p:nvSpPr>
        <p:spPr>
          <a:xfrm>
            <a:off x="3999420" y="2692365"/>
            <a:ext cx="322244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b="1" kern="0" spc="-22" dirty="0">
                <a:solidFill>
                  <a:srgbClr val="FFFFFF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Benefits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96B7331C-832C-705E-6090-B2A7D5D91C51}"/>
              </a:ext>
            </a:extLst>
          </p:cNvPr>
          <p:cNvSpPr/>
          <p:nvPr/>
        </p:nvSpPr>
        <p:spPr>
          <a:xfrm>
            <a:off x="6641446" y="2680880"/>
            <a:ext cx="4059503" cy="314027"/>
          </a:xfrm>
          <a:custGeom>
            <a:avLst/>
            <a:gdLst/>
            <a:ahLst/>
            <a:cxnLst/>
            <a:rect l="l" t="t" r="r" b="b"/>
            <a:pathLst>
              <a:path w="2887094" h="314027">
                <a:moveTo>
                  <a:pt x="0" y="0"/>
                </a:moveTo>
                <a:lnTo>
                  <a:pt x="2839095" y="0"/>
                </a:lnTo>
                <a:arcTo wR="48000" hR="48001" stAng="16200000" swAng="5400000"/>
                <a:lnTo>
                  <a:pt x="2887094" y="314027"/>
                </a:lnTo>
                <a:lnTo>
                  <a:pt x="0" y="314027"/>
                </a:lnTo>
                <a:lnTo>
                  <a:pt x="0" y="0"/>
                </a:lnTo>
                <a:close/>
              </a:path>
            </a:pathLst>
          </a:custGeom>
          <a:solidFill>
            <a:srgbClr val="E282B7"/>
          </a:solidFill>
          <a:ln/>
        </p:spPr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39BC423-E65C-7E3E-0B0B-3A206B09086F}"/>
              </a:ext>
            </a:extLst>
          </p:cNvPr>
          <p:cNvSpPr/>
          <p:nvPr/>
        </p:nvSpPr>
        <p:spPr>
          <a:xfrm>
            <a:off x="8014293" y="2670432"/>
            <a:ext cx="3222445" cy="18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b="1" kern="0" spc="-22" dirty="0">
                <a:solidFill>
                  <a:srgbClr val="272525"/>
                </a:solidFill>
                <a:latin typeface="Arial" panose="020B0604020202020204" pitchFamily="34" charset="0"/>
                <a:ea typeface="Funnel Sans Bold" pitchFamily="34" charset="-122"/>
                <a:cs typeface="Arial" panose="020B0604020202020204" pitchFamily="34" charset="0"/>
              </a:rPr>
              <a:t>Challenges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65BB0441-50F5-98CA-34D8-8EC404F15A94}"/>
              </a:ext>
            </a:extLst>
          </p:cNvPr>
          <p:cNvSpPr/>
          <p:nvPr/>
        </p:nvSpPr>
        <p:spPr>
          <a:xfrm>
            <a:off x="2388198" y="3008268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✅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Saves time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41E100D2-EF87-0963-2892-036C37EDA222}"/>
              </a:ext>
            </a:extLst>
          </p:cNvPr>
          <p:cNvSpPr/>
          <p:nvPr/>
        </p:nvSpPr>
        <p:spPr>
          <a:xfrm>
            <a:off x="6641446" y="3019940"/>
            <a:ext cx="3849124" cy="35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⚠️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Privacy concerns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DCDB2BD2-A889-4775-5D46-4CA308AABEFA}"/>
              </a:ext>
            </a:extLst>
          </p:cNvPr>
          <p:cNvSpPr/>
          <p:nvPr/>
        </p:nvSpPr>
        <p:spPr>
          <a:xfrm>
            <a:off x="2388198" y="3350938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✅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Automates repetitive work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9F776F66-712C-A413-4AE9-D8D7D18BAE65}"/>
              </a:ext>
            </a:extLst>
          </p:cNvPr>
          <p:cNvSpPr/>
          <p:nvPr/>
        </p:nvSpPr>
        <p:spPr>
          <a:xfrm>
            <a:off x="6641446" y="3330729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⚠️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Job displacement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0A2CF6E1-7097-1220-0302-5490AE17F6F2}"/>
              </a:ext>
            </a:extLst>
          </p:cNvPr>
          <p:cNvSpPr/>
          <p:nvPr/>
        </p:nvSpPr>
        <p:spPr>
          <a:xfrm>
            <a:off x="2388198" y="3688922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✅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Personalized services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0A8EEB6-16AE-0E36-13D8-0C9FC28F9674}"/>
              </a:ext>
            </a:extLst>
          </p:cNvPr>
          <p:cNvSpPr/>
          <p:nvPr/>
        </p:nvSpPr>
        <p:spPr>
          <a:xfrm>
            <a:off x="6641445" y="3634866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⚠️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Bias and unfair decisions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46FBD149-F7C3-B6EC-6D73-D92DA4925943}"/>
              </a:ext>
            </a:extLst>
          </p:cNvPr>
          <p:cNvSpPr/>
          <p:nvPr/>
        </p:nvSpPr>
        <p:spPr>
          <a:xfrm>
            <a:off x="2388197" y="4012474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✅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Helps analyze large amount data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17704296-9017-C040-E308-0621957F2D8D}"/>
              </a:ext>
            </a:extLst>
          </p:cNvPr>
          <p:cNvSpPr/>
          <p:nvPr/>
        </p:nvSpPr>
        <p:spPr>
          <a:xfrm>
            <a:off x="6641446" y="3936822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⚠️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Incorrect information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9FB9ACF7-BADF-328E-1EA5-59E8AFE72654}"/>
              </a:ext>
            </a:extLst>
          </p:cNvPr>
          <p:cNvSpPr/>
          <p:nvPr/>
        </p:nvSpPr>
        <p:spPr>
          <a:xfrm>
            <a:off x="2388198" y="4356246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✅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Supports learning and creativity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CC2989B9-E6E8-49B1-D0C3-74E0A444AB7E}"/>
              </a:ext>
            </a:extLst>
          </p:cNvPr>
          <p:cNvSpPr/>
          <p:nvPr/>
        </p:nvSpPr>
        <p:spPr>
          <a:xfrm>
            <a:off x="6641444" y="4291197"/>
            <a:ext cx="3222445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000" kern="0" spc="-22" dirty="0">
                <a:solidFill>
                  <a:srgbClr val="000000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⚠️</a:t>
            </a:r>
            <a:r>
              <a:rPr lang="en-US" sz="2000" kern="0" spc="-22" dirty="0">
                <a:solidFill>
                  <a:srgbClr val="2B3541"/>
                </a:solidFill>
                <a:latin typeface="Arial" panose="020B0604020202020204" pitchFamily="34" charset="0"/>
                <a:ea typeface="Funnel Sans" pitchFamily="34" charset="-122"/>
                <a:cs typeface="Arial" panose="020B0604020202020204" pitchFamily="34" charset="0"/>
              </a:rPr>
              <a:t> Cybersecurity risks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042704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76A35F-DE6F-2DC2-9988-9EB59ACE9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A827-E99E-4257-A280-2F815CBD8F70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7505F-B945-630C-0AC4-979F87F1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DCF21-456B-1C4E-268F-807433988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5</a:t>
            </a:fld>
            <a:endParaRPr lang="en-IN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36D52AB-D61A-6A3E-1FD1-0EACCB1D869E}"/>
              </a:ext>
            </a:extLst>
          </p:cNvPr>
          <p:cNvSpPr/>
          <p:nvPr/>
        </p:nvSpPr>
        <p:spPr>
          <a:xfrm>
            <a:off x="3348747" y="470544"/>
            <a:ext cx="6223638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25" dirty="0">
                <a:solidFill>
                  <a:srgbClr val="051D3A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What Does the Future Hold?</a:t>
            </a:r>
            <a:endParaRPr lang="en-US" sz="3600" b="1" dirty="0">
              <a:latin typeface="Arial Black" panose="020B0A040201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BD640F91-C286-5B0D-8935-F8FF2C0C930D}"/>
              </a:ext>
            </a:extLst>
          </p:cNvPr>
          <p:cNvSpPr/>
          <p:nvPr/>
        </p:nvSpPr>
        <p:spPr>
          <a:xfrm>
            <a:off x="3359380" y="1238846"/>
            <a:ext cx="350630" cy="35063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DFF611A-5AD0-140D-4B95-0B268604A717}"/>
              </a:ext>
            </a:extLst>
          </p:cNvPr>
          <p:cNvSpPr/>
          <p:nvPr/>
        </p:nvSpPr>
        <p:spPr>
          <a:xfrm>
            <a:off x="3831748" y="1292325"/>
            <a:ext cx="575126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More Integration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68068F82-BF4B-B0AC-2E27-4ADA01AB262E}"/>
              </a:ext>
            </a:extLst>
          </p:cNvPr>
          <p:cNvSpPr/>
          <p:nvPr/>
        </p:nvSpPr>
        <p:spPr>
          <a:xfrm>
            <a:off x="3831748" y="1594546"/>
            <a:ext cx="57512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AI will become more integrated into everyday devices.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092BC5F7-15BE-6A0C-4704-8BAE554F100D}"/>
              </a:ext>
            </a:extLst>
          </p:cNvPr>
          <p:cNvSpPr/>
          <p:nvPr/>
        </p:nvSpPr>
        <p:spPr>
          <a:xfrm>
            <a:off x="3359380" y="2060080"/>
            <a:ext cx="350630" cy="35063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467EB057-5038-B570-83A5-4F580DD4083F}"/>
              </a:ext>
            </a:extLst>
          </p:cNvPr>
          <p:cNvSpPr/>
          <p:nvPr/>
        </p:nvSpPr>
        <p:spPr>
          <a:xfrm>
            <a:off x="3831748" y="2113559"/>
            <a:ext cx="575126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Human–AI Collaboration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C6FA93FB-7DB7-8279-B800-8706C917605C}"/>
              </a:ext>
            </a:extLst>
          </p:cNvPr>
          <p:cNvSpPr/>
          <p:nvPr/>
        </p:nvSpPr>
        <p:spPr>
          <a:xfrm>
            <a:off x="3831748" y="2415779"/>
            <a:ext cx="57512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Human–AI collaboration will become increasingly important.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6F837C5-E793-6EA6-D617-073B95CA3AE5}"/>
              </a:ext>
            </a:extLst>
          </p:cNvPr>
          <p:cNvSpPr/>
          <p:nvPr/>
        </p:nvSpPr>
        <p:spPr>
          <a:xfrm>
            <a:off x="3359380" y="2881314"/>
            <a:ext cx="350630" cy="35063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15C4623-765F-3F8E-469D-C0ABA4C03C8D}"/>
              </a:ext>
            </a:extLst>
          </p:cNvPr>
          <p:cNvSpPr/>
          <p:nvPr/>
        </p:nvSpPr>
        <p:spPr>
          <a:xfrm>
            <a:off x="3831748" y="2934792"/>
            <a:ext cx="575126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Responsible Use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52C4CE6-844B-7729-D4C5-5A6D36F6D1A4}"/>
              </a:ext>
            </a:extLst>
          </p:cNvPr>
          <p:cNvSpPr/>
          <p:nvPr/>
        </p:nvSpPr>
        <p:spPr>
          <a:xfrm>
            <a:off x="3831748" y="3237013"/>
            <a:ext cx="57512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Responsible use of AI will require privacy, security and ethical standards.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3644E7FA-4940-57CA-680C-959B4AE9E9D5}"/>
              </a:ext>
            </a:extLst>
          </p:cNvPr>
          <p:cNvSpPr/>
          <p:nvPr/>
        </p:nvSpPr>
        <p:spPr>
          <a:xfrm>
            <a:off x="3359380" y="3702547"/>
            <a:ext cx="350630" cy="350639"/>
          </a:xfrm>
          <a:prstGeom prst="roundRect">
            <a:avLst>
              <a:gd name="adj" fmla="val 18668"/>
            </a:avLst>
          </a:prstGeom>
          <a:solidFill>
            <a:srgbClr val="FAF5EB"/>
          </a:solidFill>
          <a:ln w="6350">
            <a:solidFill>
              <a:srgbClr val="D5CDBE"/>
            </a:solidFill>
            <a:prstDash val="solid"/>
          </a:ln>
        </p:spPr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3E5AEFC-A749-62C5-5B08-0B8139B1D387}"/>
              </a:ext>
            </a:extLst>
          </p:cNvPr>
          <p:cNvSpPr/>
          <p:nvPr/>
        </p:nvSpPr>
        <p:spPr>
          <a:xfrm>
            <a:off x="3831748" y="3756026"/>
            <a:ext cx="5751269" cy="22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Display" pitchFamily="34" charset="-122"/>
                <a:cs typeface="Funnel Display" pitchFamily="34" charset="-120"/>
              </a:rPr>
              <a:t>Future-Ready Skills</a:t>
            </a:r>
            <a:endParaRPr lang="en-US" sz="1400" dirty="0">
              <a:latin typeface="Arial Black" panose="020B0A04020102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9D55135B-97C0-91BC-4179-AB6EDE62F834}"/>
              </a:ext>
            </a:extLst>
          </p:cNvPr>
          <p:cNvSpPr/>
          <p:nvPr/>
        </p:nvSpPr>
        <p:spPr>
          <a:xfrm>
            <a:off x="3831748" y="4058246"/>
            <a:ext cx="5751269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00" kern="0" spc="-25" dirty="0">
                <a:solidFill>
                  <a:srgbClr val="2B3541"/>
                </a:solidFill>
                <a:latin typeface="Arial Black" panose="020B0A04020102020204" pitchFamily="34" charset="0"/>
                <a:ea typeface="Funnel Sans" pitchFamily="34" charset="-122"/>
                <a:cs typeface="Funnel Sans" pitchFamily="34" charset="-120"/>
              </a:rPr>
              <a:t>Learning AI skills can help students prepare for future careers.</a:t>
            </a:r>
            <a:endParaRPr lang="en-US" sz="1200" dirty="0">
              <a:latin typeface="Arial Black" panose="020B0A04020102020204" pitchFamily="34" charset="0"/>
            </a:endParaRPr>
          </a:p>
        </p:txBody>
      </p:sp>
      <p:pic>
        <p:nvPicPr>
          <p:cNvPr id="18" name="Image 2" descr="preencoded.png">
            <a:hlinkClick r:id="rId2"/>
            <a:extLst>
              <a:ext uri="{FF2B5EF4-FFF2-40B4-BE49-F238E27FC236}">
                <a16:creationId xmlns:a16="http://schemas.microsoft.com/office/drawing/2014/main" id="{62E42930-C624-16EE-E707-A907E7495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9708" y="4808936"/>
            <a:ext cx="1272449" cy="42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441734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68FF27-BA11-8A28-EAA2-BDCFA4ABA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8A827-E99E-4257-A280-2F815CBD8F70}" type="datetime1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464B33-6B77-EE30-5C77-02C23A9E2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ABDULLAH SARWAR | MCA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1E415-29F6-4179-A888-9B90594E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0F4B92-B9F7-45A6-8602-ED89E204B0B2}" type="slidenum">
              <a:rPr lang="en-IN" smtClean="0"/>
              <a:t>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1D7BB-EFA3-D5FE-9AD3-91696A1D3157}"/>
              </a:ext>
            </a:extLst>
          </p:cNvPr>
          <p:cNvSpPr txBox="1"/>
          <p:nvPr/>
        </p:nvSpPr>
        <p:spPr>
          <a:xfrm>
            <a:off x="3067264" y="2875002"/>
            <a:ext cx="609420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600" dirty="0">
                <a:latin typeface="Arial Black" panose="020B0A040201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52712210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15</TotalTime>
  <Words>245</Words>
  <Application>Microsoft Office PowerPoint</Application>
  <PresentationFormat>Widescreen</PresentationFormat>
  <Paragraphs>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Arial Black</vt:lpstr>
      <vt:lpstr>Calibri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CSD</dc:creator>
  <cp:lastModifiedBy>CSD</cp:lastModifiedBy>
  <cp:revision>1</cp:revision>
  <dcterms:created xsi:type="dcterms:W3CDTF">2026-08-20T09:38:59Z</dcterms:created>
  <dcterms:modified xsi:type="dcterms:W3CDTF">2026-08-20T09:54:59Z</dcterms:modified>
</cp:coreProperties>
</file>